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200">
                <a:solidFill>
                  <a:srgbClr val="142044"/>
                </a:solidFill>
              </a:defRPr>
            </a:pPr>
            <a:r>
              <a:t>DeepAudit 架构与原理培训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000">
                <a:solidFill>
                  <a:srgbClr val="1E1E1E"/>
                </a:solidFill>
              </a:defRPr>
            </a:pPr>
            <a:r>
              <a:t>60分钟 | 架构、原理、流程细节 | 版本基于官方文档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142044"/>
                </a:solidFill>
              </a:defRPr>
            </a:pPr>
            <a:r>
              <a:t>培训议程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42044"/>
                </a:solidFill>
              </a:defRPr>
            </a:pPr>
            <a:r>
              <a:t>今天将覆盖</a:t>
            </a:r>
          </a:p>
          <a:p>
            <a:pPr lvl="1">
              <a:defRPr sz="2000">
                <a:solidFill>
                  <a:srgbClr val="1E1E1E"/>
                </a:solidFill>
              </a:defRPr>
            </a:pPr>
            <a:r>
              <a:t>背景与痛点</a:t>
            </a:r>
          </a:p>
          <a:p>
            <a:pPr lvl="1">
              <a:defRPr sz="2000">
                <a:solidFill>
                  <a:srgbClr val="1E1E1E"/>
                </a:solidFill>
              </a:defRPr>
            </a:pPr>
            <a:r>
              <a:t>总体架构与技术栈</a:t>
            </a:r>
          </a:p>
          <a:p>
            <a:pPr lvl="1">
              <a:defRPr sz="2000">
                <a:solidFill>
                  <a:srgbClr val="1E1E1E"/>
                </a:solidFill>
              </a:defRPr>
            </a:pPr>
            <a:r>
              <a:t>Multi-Agent 原理</a:t>
            </a:r>
          </a:p>
          <a:p>
            <a:pPr lvl="1">
              <a:defRPr sz="2000">
                <a:solidFill>
                  <a:srgbClr val="1E1E1E"/>
                </a:solidFill>
              </a:defRPr>
            </a:pPr>
            <a:r>
              <a:t>审计流程与工具链</a:t>
            </a:r>
          </a:p>
          <a:p>
            <a:pPr lvl="1">
              <a:defRPr sz="2000">
                <a:solidFill>
                  <a:srgbClr val="1E1E1E"/>
                </a:solidFill>
              </a:defRPr>
            </a:pPr>
            <a:r>
              <a:t>事件流/可观测性</a:t>
            </a:r>
          </a:p>
          <a:p>
            <a:pPr lvl="1">
              <a:defRPr sz="2000">
                <a:solidFill>
                  <a:srgbClr val="1E1E1E"/>
                </a:solidFill>
              </a:defRPr>
            </a:pPr>
            <a:r>
              <a:t>安全与稳定性设计</a:t>
            </a:r>
          </a:p>
          <a:p>
            <a:pPr lvl="1">
              <a:defRPr sz="2000">
                <a:solidFill>
                  <a:srgbClr val="1E1E1E"/>
                </a:solidFill>
              </a:defRPr>
            </a:pPr>
            <a:r>
              <a:t>部署与扩展</a:t>
            </a:r>
          </a:p>
          <a:p>
            <a:pPr lvl="1">
              <a:defRPr sz="2000">
                <a:solidFill>
                  <a:srgbClr val="1E1E1E"/>
                </a:solidFill>
              </a:defRPr>
            </a:pPr>
            <a:r>
              <a:t>案例与Q&amp;A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142044"/>
                </a:solidFill>
              </a:defRPr>
            </a:pPr>
            <a:r>
              <a:t>背景与痛点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42044"/>
                </a:solidFill>
              </a:defRPr>
            </a:pPr>
            <a:r>
              <a:t>传统审计的难点</a:t>
            </a:r>
          </a:p>
          <a:p>
            <a:pPr lvl="1">
              <a:defRPr sz="2000">
                <a:solidFill>
                  <a:srgbClr val="1E1E1E"/>
                </a:solidFill>
              </a:defRPr>
            </a:pPr>
            <a:r>
              <a:t>规则驱动静态扫描误报高、难以理解业务语义</a:t>
            </a:r>
          </a:p>
          <a:p>
            <a:pPr lvl="1">
              <a:defRPr sz="2000">
                <a:solidFill>
                  <a:srgbClr val="1E1E1E"/>
                </a:solidFill>
              </a:defRPr>
            </a:pPr>
            <a:r>
              <a:t>跨文件调用链难追踪，业务逻辑漏洞难发现</a:t>
            </a:r>
          </a:p>
          <a:p>
            <a:pPr lvl="1">
              <a:defRPr sz="2000">
                <a:solidFill>
                  <a:srgbClr val="1E1E1E"/>
                </a:solidFill>
              </a:defRPr>
            </a:pPr>
            <a:r>
              <a:t>缺乏验证环节，漏洞真假难判定</a:t>
            </a:r>
          </a:p>
          <a:p>
            <a:pPr lvl="1">
              <a:defRPr sz="2000">
                <a:solidFill>
                  <a:srgbClr val="1E1E1E"/>
                </a:solidFill>
              </a:defRPr>
            </a:pPr>
            <a:r>
              <a:t>人工审计成本高，无法跟上迭代节奏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142044"/>
                </a:solidFill>
              </a:defRPr>
            </a:pPr>
            <a:r>
              <a:t>DeepAudit 的核心价值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42044"/>
                </a:solidFill>
              </a:defRPr>
            </a:pPr>
            <a:r>
              <a:t>目标与优势</a:t>
            </a:r>
          </a:p>
          <a:p>
            <a:pPr lvl="1">
              <a:defRPr sz="2000">
                <a:solidFill>
                  <a:srgbClr val="1E1E1E"/>
                </a:solidFill>
              </a:defRPr>
            </a:pPr>
            <a:r>
              <a:t>LLM 驱动的多智能体协作，模拟专家审计流程</a:t>
            </a:r>
          </a:p>
          <a:p>
            <a:pPr lvl="1">
              <a:defRPr sz="2000">
                <a:solidFill>
                  <a:srgbClr val="1E1E1E"/>
                </a:solidFill>
              </a:defRPr>
            </a:pPr>
            <a:r>
              <a:t>从侦察 → 分析 → 验证的一体化流程</a:t>
            </a:r>
          </a:p>
          <a:p>
            <a:pPr lvl="1">
              <a:defRPr sz="2000">
                <a:solidFill>
                  <a:srgbClr val="1E1E1E"/>
                </a:solidFill>
              </a:defRPr>
            </a:pPr>
            <a:r>
              <a:t>工具链 + 知识库 + PoC 验证，减少误报</a:t>
            </a:r>
          </a:p>
          <a:p>
            <a:pPr lvl="1">
              <a:defRPr sz="2000">
                <a:solidFill>
                  <a:srgbClr val="1E1E1E"/>
                </a:solidFill>
              </a:defRPr>
            </a:pPr>
            <a:r>
              <a:t>可视化审计流、实时日志、结构化报告输出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142044"/>
                </a:solidFill>
              </a:defRPr>
            </a:pPr>
            <a:r>
              <a:t>总体架构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097280"/>
            <a:ext cx="3108960" cy="1005840"/>
          </a:xfrm>
          <a:prstGeom prst="roundRect">
            <a:avLst/>
          </a:prstGeom>
          <a:solidFill>
            <a:srgbClr val="E8F2FC"/>
          </a:solidFill>
          <a:ln>
            <a:solidFill>
              <a:srgbClr val="186F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E1E1E"/>
                </a:solidFill>
              </a:defRPr>
            </a:pPr>
            <a:r>
              <a:t>前端</a:t>
            </a:r>
            <a:br/>
            <a:r>
              <a:t>React + 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0" y="1097280"/>
            <a:ext cx="3657600" cy="1005840"/>
          </a:xfrm>
          <a:prstGeom prst="roundRect">
            <a:avLst/>
          </a:prstGeom>
          <a:solidFill>
            <a:srgbClr val="E8F2FC"/>
          </a:solidFill>
          <a:ln>
            <a:solidFill>
              <a:srgbClr val="186F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E1E1E"/>
                </a:solidFill>
              </a:defRPr>
            </a:pPr>
            <a:r>
              <a:t>后端</a:t>
            </a:r>
            <a:br/>
            <a:r>
              <a:t>FastAPI + LLM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955279" y="1097280"/>
            <a:ext cx="3474720" cy="1005840"/>
          </a:xfrm>
          <a:prstGeom prst="roundRect">
            <a:avLst/>
          </a:prstGeom>
          <a:solidFill>
            <a:srgbClr val="E8F2FC"/>
          </a:solidFill>
          <a:ln>
            <a:solidFill>
              <a:srgbClr val="186F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E1E1E"/>
                </a:solidFill>
              </a:defRPr>
            </a:pPr>
            <a:r>
              <a:t>数据库</a:t>
            </a:r>
            <a:br/>
            <a:r>
              <a:t>PostgreSQL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566160" y="1600200"/>
            <a:ext cx="274320" cy="0"/>
          </a:xfrm>
          <a:prstGeom prst="line">
            <a:avLst/>
          </a:prstGeom>
          <a:ln w="25400">
            <a:solidFill>
              <a:srgbClr val="186F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7498079" y="1600200"/>
            <a:ext cx="457200" cy="0"/>
          </a:xfrm>
          <a:prstGeom prst="line">
            <a:avLst/>
          </a:prstGeom>
          <a:ln w="25400">
            <a:solidFill>
              <a:srgbClr val="186F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1097280" y="2834640"/>
            <a:ext cx="9875520" cy="1097280"/>
          </a:xfrm>
          <a:prstGeom prst="roundRect">
            <a:avLst/>
          </a:prstGeom>
          <a:solidFill>
            <a:srgbClr val="FAF3E5"/>
          </a:solidFill>
          <a:ln>
            <a:solidFill>
              <a:srgbClr val="186F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E1E1E"/>
                </a:solidFill>
              </a:defRPr>
            </a:pPr>
            <a:r>
              <a:t>Multi-Agent 引擎 (Orchestrator / Recon / Analysis / Verification)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0" y="2103120"/>
            <a:ext cx="0" cy="731520"/>
          </a:xfrm>
          <a:prstGeom prst="line">
            <a:avLst/>
          </a:prstGeom>
          <a:ln w="25400">
            <a:solidFill>
              <a:srgbClr val="186F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1097280" y="4480560"/>
            <a:ext cx="3108960" cy="1097280"/>
          </a:xfrm>
          <a:prstGeom prst="roundRect">
            <a:avLst/>
          </a:prstGeom>
          <a:solidFill>
            <a:srgbClr val="F0F5F0"/>
          </a:solidFill>
          <a:ln>
            <a:solidFill>
              <a:srgbClr val="186F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0">
                <a:solidFill>
                  <a:srgbClr val="1E1E1E"/>
                </a:solidFill>
              </a:defRPr>
            </a:pPr>
            <a:r>
              <a:t>工具生态</a:t>
            </a:r>
            <a:br/>
            <a:r>
              <a:t>SmartScan / DataFlow / Pattern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4480560"/>
            <a:ext cx="3108960" cy="1097280"/>
          </a:xfrm>
          <a:prstGeom prst="roundRect">
            <a:avLst/>
          </a:prstGeom>
          <a:solidFill>
            <a:srgbClr val="F0F5F0"/>
          </a:solidFill>
          <a:ln>
            <a:solidFill>
              <a:srgbClr val="186F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0">
                <a:solidFill>
                  <a:srgbClr val="1E1E1E"/>
                </a:solidFill>
              </a:defRPr>
            </a:pPr>
            <a:r>
              <a:t>外部工具</a:t>
            </a:r>
            <a:br/>
            <a:r>
              <a:t>Semgrep / Bandit / Gitleaks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4480560"/>
            <a:ext cx="2926080" cy="1097280"/>
          </a:xfrm>
          <a:prstGeom prst="roundRect">
            <a:avLst/>
          </a:prstGeom>
          <a:solidFill>
            <a:srgbClr val="F0F5F0"/>
          </a:solidFill>
          <a:ln>
            <a:solidFill>
              <a:srgbClr val="186F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0">
                <a:solidFill>
                  <a:srgbClr val="1E1E1E"/>
                </a:solidFill>
              </a:defRPr>
            </a:pPr>
            <a:r>
              <a:t>沙箱验证</a:t>
            </a:r>
            <a:br/>
            <a:r>
              <a:t>Docker PoC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743200" y="3931920"/>
            <a:ext cx="0" cy="548640"/>
          </a:xfrm>
          <a:prstGeom prst="line">
            <a:avLst/>
          </a:prstGeom>
          <a:ln w="25400">
            <a:solidFill>
              <a:srgbClr val="186F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126480" y="3931920"/>
            <a:ext cx="0" cy="548640"/>
          </a:xfrm>
          <a:prstGeom prst="line">
            <a:avLst/>
          </a:prstGeom>
          <a:ln w="25400">
            <a:solidFill>
              <a:srgbClr val="186F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326880" y="3931920"/>
            <a:ext cx="0" cy="548640"/>
          </a:xfrm>
          <a:prstGeom prst="line">
            <a:avLst/>
          </a:prstGeom>
          <a:ln w="25400">
            <a:solidFill>
              <a:srgbClr val="186F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142044"/>
                </a:solidFill>
              </a:defRPr>
            </a:pPr>
            <a:r>
              <a:t>技术栈与组件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42044"/>
                </a:solidFill>
              </a:defRPr>
            </a:pPr>
            <a:r>
              <a:t>关键组件</a:t>
            </a:r>
          </a:p>
          <a:p>
            <a:pPr lvl="1">
              <a:defRPr sz="2000">
                <a:solidFill>
                  <a:srgbClr val="1E1E1E"/>
                </a:solidFill>
              </a:defRPr>
            </a:pPr>
            <a:r>
              <a:t>后端：Python 3.11+ / FastAPI / LangChain / LiteLLM</a:t>
            </a:r>
          </a:p>
          <a:p>
            <a:pPr lvl="1">
              <a:defRPr sz="2000">
                <a:solidFill>
                  <a:srgbClr val="1E1E1E"/>
                </a:solidFill>
              </a:defRPr>
            </a:pPr>
            <a:r>
              <a:t>前端：React 18 / TypeScript / Ant Design</a:t>
            </a:r>
          </a:p>
          <a:p>
            <a:pPr lvl="1">
              <a:defRPr sz="2000">
                <a:solidFill>
                  <a:srgbClr val="1E1E1E"/>
                </a:solidFill>
              </a:defRPr>
            </a:pPr>
            <a:r>
              <a:t>数据库：PostgreSQL (Supabase)</a:t>
            </a:r>
          </a:p>
          <a:p>
            <a:pPr lvl="1">
              <a:defRPr sz="2000">
                <a:solidFill>
                  <a:srgbClr val="1E1E1E"/>
                </a:solidFill>
              </a:defRPr>
            </a:pPr>
            <a:r>
              <a:t>通信：REST + SSE 实时事件流</a:t>
            </a:r>
          </a:p>
          <a:p>
            <a:pPr lvl="1">
              <a:defRPr sz="2000">
                <a:solidFill>
                  <a:srgbClr val="1E1E1E"/>
                </a:solidFill>
              </a:defRPr>
            </a:pPr>
            <a:r>
              <a:t>沙箱：Docker 隔离执行 PoC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142044"/>
                </a:solidFill>
              </a:defRPr>
            </a:pPr>
            <a:r>
              <a:t>Multi-Agent 协作架构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0" y="1188720"/>
            <a:ext cx="3017520" cy="914400"/>
          </a:xfrm>
          <a:prstGeom prst="roundRect">
            <a:avLst/>
          </a:prstGeom>
          <a:solidFill>
            <a:srgbClr val="E8F2FC"/>
          </a:solidFill>
          <a:ln>
            <a:solidFill>
              <a:srgbClr val="186F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E1E1E"/>
                </a:solidFill>
              </a:defRPr>
            </a:pPr>
            <a:r>
              <a:t>Orchestrator</a:t>
            </a:r>
            <a:br/>
            <a:r>
              <a:t>策略编排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743200"/>
            <a:ext cx="3200400" cy="914400"/>
          </a:xfrm>
          <a:prstGeom prst="roundRect">
            <a:avLst/>
          </a:prstGeom>
          <a:solidFill>
            <a:srgbClr val="FAF3E5"/>
          </a:solidFill>
          <a:ln>
            <a:solidFill>
              <a:srgbClr val="186F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0">
                <a:solidFill>
                  <a:srgbClr val="1E1E1E"/>
                </a:solidFill>
              </a:defRPr>
            </a:pPr>
            <a:r>
              <a:t>Recon</a:t>
            </a:r>
            <a:br/>
            <a:r>
              <a:t>情报收集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0" y="2743200"/>
            <a:ext cx="3200400" cy="914400"/>
          </a:xfrm>
          <a:prstGeom prst="roundRect">
            <a:avLst/>
          </a:prstGeom>
          <a:solidFill>
            <a:srgbClr val="FAF3E5"/>
          </a:solidFill>
          <a:ln>
            <a:solidFill>
              <a:srgbClr val="186F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0">
                <a:solidFill>
                  <a:srgbClr val="1E1E1E"/>
                </a:solidFill>
              </a:defRPr>
            </a:pPr>
            <a:r>
              <a:t>Analysis</a:t>
            </a:r>
            <a:br/>
            <a:r>
              <a:t>漏洞分析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0" y="2743200"/>
            <a:ext cx="2926080" cy="914400"/>
          </a:xfrm>
          <a:prstGeom prst="roundRect">
            <a:avLst/>
          </a:prstGeom>
          <a:solidFill>
            <a:srgbClr val="FAF3E5"/>
          </a:solidFill>
          <a:ln>
            <a:solidFill>
              <a:srgbClr val="186F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0">
                <a:solidFill>
                  <a:srgbClr val="1E1E1E"/>
                </a:solidFill>
              </a:defRPr>
            </a:pPr>
            <a:r>
              <a:t>Verification</a:t>
            </a:r>
            <a:br/>
            <a:r>
              <a:t>PoC验证</a:t>
            </a:r>
          </a:p>
        </p:txBody>
      </p:sp>
      <p:cxnSp>
        <p:nvCxnSpPr>
          <p:cNvPr id="7" name="Connector 6"/>
          <p:cNvCxnSpPr/>
          <p:nvPr/>
        </p:nvCxnSpPr>
        <p:spPr>
          <a:xfrm flipH="1">
            <a:off x="2560320" y="2103120"/>
            <a:ext cx="3474720" cy="640080"/>
          </a:xfrm>
          <a:prstGeom prst="line">
            <a:avLst/>
          </a:prstGeom>
          <a:ln w="25400">
            <a:solidFill>
              <a:srgbClr val="186F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035040" y="2103120"/>
            <a:ext cx="0" cy="640080"/>
          </a:xfrm>
          <a:prstGeom prst="line">
            <a:avLst/>
          </a:prstGeom>
          <a:ln w="25400">
            <a:solidFill>
              <a:srgbClr val="186F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035040" y="2103120"/>
            <a:ext cx="3108960" cy="640080"/>
          </a:xfrm>
          <a:prstGeom prst="line">
            <a:avLst/>
          </a:prstGeom>
          <a:ln w="25400">
            <a:solidFill>
              <a:srgbClr val="186F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31520" y="4297680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42044"/>
                </a:solidFill>
              </a:defRPr>
            </a:pPr>
            <a:r>
              <a:t>关键特征</a:t>
            </a:r>
          </a:p>
          <a:p>
            <a:pPr lvl="1">
              <a:defRPr sz="1600">
                <a:solidFill>
                  <a:srgbClr val="1E1E1E"/>
                </a:solidFill>
              </a:defRPr>
            </a:pPr>
            <a:r>
              <a:t>LLM 作为“中枢大脑”，动态派发子 Agent</a:t>
            </a:r>
          </a:p>
          <a:p>
            <a:pPr lvl="1">
              <a:defRPr sz="1600">
                <a:solidFill>
                  <a:srgbClr val="1E1E1E"/>
                </a:solidFill>
              </a:defRPr>
            </a:pPr>
            <a:r>
              <a:t>Agent 之间使用结构化 TaskHandoff 交接</a:t>
            </a:r>
          </a:p>
          <a:p>
            <a:pPr lvl="1">
              <a:defRPr sz="1600">
                <a:solidFill>
                  <a:srgbClr val="1E1E1E"/>
                </a:solidFill>
              </a:defRPr>
            </a:pPr>
            <a:r>
              <a:t>可并行或串行执行，按风险优先级调整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142044"/>
                </a:solidFill>
              </a:defRPr>
            </a:pPr>
            <a:r>
              <a:t>各 Agent 职责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42044"/>
                </a:solidFill>
              </a:defRPr>
            </a:pPr>
            <a:r>
              <a:t>职责拆解</a:t>
            </a:r>
          </a:p>
          <a:p>
            <a:pPr lvl="1">
              <a:defRPr sz="2000">
                <a:solidFill>
                  <a:srgbClr val="1E1E1E"/>
                </a:solidFill>
              </a:defRPr>
            </a:pPr>
            <a:r>
              <a:t>Recon：识别技术栈、入口点、关键模块、高风险区域</a:t>
            </a:r>
          </a:p>
          <a:p>
            <a:pPr lvl="1">
              <a:defRPr sz="2000">
                <a:solidFill>
                  <a:srgbClr val="1E1E1E"/>
                </a:solidFill>
              </a:defRPr>
            </a:pPr>
            <a:r>
              <a:t>Analysis：深度审计代码，输出结构化漏洞发现</a:t>
            </a:r>
          </a:p>
          <a:p>
            <a:pPr lvl="1">
              <a:defRPr sz="2000">
                <a:solidFill>
                  <a:srgbClr val="1E1E1E"/>
                </a:solidFill>
              </a:defRPr>
            </a:pPr>
            <a:r>
              <a:t>Verification：生成 PoC、验证可利用性，降低误报</a:t>
            </a:r>
          </a:p>
          <a:p>
            <a:pPr lvl="1">
              <a:defRPr sz="2000">
                <a:solidFill>
                  <a:srgbClr val="1E1E1E"/>
                </a:solidFill>
              </a:defRPr>
            </a:pPr>
            <a:r>
              <a:t>Orchestrator：任务编排、结果汇总、生成最终报告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142044"/>
                </a:solidFill>
              </a:defRPr>
            </a:pPr>
            <a:r>
              <a:t>ReAct 执行循环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828800"/>
            <a:ext cx="2194560" cy="914400"/>
          </a:xfrm>
          <a:prstGeom prst="roundRect">
            <a:avLst/>
          </a:prstGeom>
          <a:solidFill>
            <a:srgbClr val="E8F2FC"/>
          </a:solidFill>
          <a:ln>
            <a:solidFill>
              <a:srgbClr val="186F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0">
                <a:solidFill>
                  <a:srgbClr val="1E1E1E"/>
                </a:solidFill>
              </a:defRPr>
            </a:pPr>
            <a:r>
              <a:t>Thought</a:t>
            </a:r>
            <a:br/>
            <a:r>
              <a:t>分析与计划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0" y="1828800"/>
            <a:ext cx="2194560" cy="914400"/>
          </a:xfrm>
          <a:prstGeom prst="roundRect">
            <a:avLst/>
          </a:prstGeom>
          <a:solidFill>
            <a:srgbClr val="E8F2FC"/>
          </a:solidFill>
          <a:ln>
            <a:solidFill>
              <a:srgbClr val="186F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0">
                <a:solidFill>
                  <a:srgbClr val="1E1E1E"/>
                </a:solidFill>
              </a:defRPr>
            </a:pPr>
            <a:r>
              <a:t>Action</a:t>
            </a:r>
            <a:br/>
            <a:r>
              <a:t>选择工具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766560" y="1828800"/>
            <a:ext cx="2194560" cy="914400"/>
          </a:xfrm>
          <a:prstGeom prst="roundRect">
            <a:avLst/>
          </a:prstGeom>
          <a:solidFill>
            <a:srgbClr val="E8F2FC"/>
          </a:solidFill>
          <a:ln>
            <a:solidFill>
              <a:srgbClr val="186F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0">
                <a:solidFill>
                  <a:srgbClr val="1E1E1E"/>
                </a:solidFill>
              </a:defRPr>
            </a:pPr>
            <a:r>
              <a:t>Observation</a:t>
            </a:r>
            <a:br/>
            <a:r>
              <a:t>执行结果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509760" y="1828800"/>
            <a:ext cx="2194560" cy="914400"/>
          </a:xfrm>
          <a:prstGeom prst="roundRect">
            <a:avLst/>
          </a:prstGeom>
          <a:solidFill>
            <a:srgbClr val="E8F2FC"/>
          </a:solidFill>
          <a:ln>
            <a:solidFill>
              <a:srgbClr val="186F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0">
                <a:solidFill>
                  <a:srgbClr val="1E1E1E"/>
                </a:solidFill>
              </a:defRPr>
            </a:pPr>
            <a:r>
              <a:t>Next</a:t>
            </a:r>
            <a:br/>
            <a:r>
              <a:t>继续循环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108960" y="2286000"/>
            <a:ext cx="731520" cy="0"/>
          </a:xfrm>
          <a:prstGeom prst="line">
            <a:avLst/>
          </a:prstGeom>
          <a:ln w="25400">
            <a:solidFill>
              <a:srgbClr val="186F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035040" y="2286000"/>
            <a:ext cx="731520" cy="0"/>
          </a:xfrm>
          <a:prstGeom prst="line">
            <a:avLst/>
          </a:prstGeom>
          <a:ln w="25400">
            <a:solidFill>
              <a:srgbClr val="186F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8961120" y="2286000"/>
            <a:ext cx="548640" cy="0"/>
          </a:xfrm>
          <a:prstGeom prst="line">
            <a:avLst/>
          </a:prstGeom>
          <a:ln w="25400">
            <a:solidFill>
              <a:srgbClr val="186F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31520" y="3931920"/>
            <a:ext cx="109728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42044"/>
                </a:solidFill>
              </a:defRPr>
            </a:pPr>
            <a:r>
              <a:t>要点</a:t>
            </a:r>
          </a:p>
          <a:p>
            <a:pPr lvl="1">
              <a:defRPr sz="1600">
                <a:solidFill>
                  <a:srgbClr val="1E1E1E"/>
                </a:solidFill>
              </a:defRPr>
            </a:pPr>
            <a:r>
              <a:t>LLM 以 Thought/Action/Observation 格式产出决策</a:t>
            </a:r>
          </a:p>
          <a:p>
            <a:pPr lvl="1">
              <a:defRPr sz="1600">
                <a:solidFill>
                  <a:srgbClr val="1E1E1E"/>
                </a:solidFill>
              </a:defRPr>
            </a:pPr>
            <a:r>
              <a:t>事件流实时记录每一步，前端可视化</a:t>
            </a:r>
          </a:p>
          <a:p>
            <a:pPr lvl="1">
              <a:defRPr sz="1600">
                <a:solidFill>
                  <a:srgbClr val="1E1E1E"/>
                </a:solidFill>
              </a:defRPr>
            </a:pPr>
            <a:r>
              <a:t>可动态终止或转交新 Agent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142044"/>
                </a:solidFill>
              </a:defRPr>
            </a:pPr>
            <a:r>
              <a:t>审计流程全景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828800"/>
            <a:ext cx="1828800" cy="822960"/>
          </a:xfrm>
          <a:prstGeom prst="roundRect">
            <a:avLst/>
          </a:prstGeom>
          <a:solidFill>
            <a:srgbClr val="F5F7FA"/>
          </a:solidFill>
          <a:ln>
            <a:solidFill>
              <a:srgbClr val="186F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0">
                <a:solidFill>
                  <a:srgbClr val="1E1E1E"/>
                </a:solidFill>
              </a:defRPr>
            </a:pPr>
            <a:r>
              <a:t>创建任务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926080" y="1828800"/>
            <a:ext cx="2103120" cy="822960"/>
          </a:xfrm>
          <a:prstGeom prst="roundRect">
            <a:avLst/>
          </a:prstGeom>
          <a:solidFill>
            <a:srgbClr val="F5F7FA"/>
          </a:solidFill>
          <a:ln>
            <a:solidFill>
              <a:srgbClr val="186F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0">
                <a:solidFill>
                  <a:srgbClr val="1E1E1E"/>
                </a:solidFill>
              </a:defRPr>
            </a:pPr>
            <a:r>
              <a:t>Recon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394960" y="1828800"/>
            <a:ext cx="2377440" cy="822960"/>
          </a:xfrm>
          <a:prstGeom prst="roundRect">
            <a:avLst/>
          </a:prstGeom>
          <a:solidFill>
            <a:srgbClr val="F5F7FA"/>
          </a:solidFill>
          <a:ln>
            <a:solidFill>
              <a:srgbClr val="186F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0">
                <a:solidFill>
                  <a:srgbClr val="1E1E1E"/>
                </a:solidFill>
              </a:defRPr>
            </a:pPr>
            <a:r>
              <a:t>Analysis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0" y="1828800"/>
            <a:ext cx="2560320" cy="822960"/>
          </a:xfrm>
          <a:prstGeom prst="roundRect">
            <a:avLst/>
          </a:prstGeom>
          <a:solidFill>
            <a:srgbClr val="F5F7FA"/>
          </a:solidFill>
          <a:ln>
            <a:solidFill>
              <a:srgbClr val="186F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0">
                <a:solidFill>
                  <a:srgbClr val="1E1E1E"/>
                </a:solidFill>
              </a:defRPr>
            </a:pPr>
            <a:r>
              <a:t>Verification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0" y="1828800"/>
            <a:ext cx="914400" cy="822960"/>
          </a:xfrm>
          <a:prstGeom prst="roundRect">
            <a:avLst/>
          </a:prstGeom>
          <a:solidFill>
            <a:srgbClr val="F5F7FA"/>
          </a:solidFill>
          <a:ln>
            <a:solidFill>
              <a:srgbClr val="186F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0">
                <a:solidFill>
                  <a:srgbClr val="1E1E1E"/>
                </a:solidFill>
              </a:defRPr>
            </a:pPr>
            <a:r>
              <a:t>报告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560320" y="2240280"/>
            <a:ext cx="365760" cy="0"/>
          </a:xfrm>
          <a:prstGeom prst="line">
            <a:avLst/>
          </a:prstGeom>
          <a:ln w="25400">
            <a:solidFill>
              <a:srgbClr val="186F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029200" y="2240280"/>
            <a:ext cx="365760" cy="0"/>
          </a:xfrm>
          <a:prstGeom prst="line">
            <a:avLst/>
          </a:prstGeom>
          <a:ln w="25400">
            <a:solidFill>
              <a:srgbClr val="186F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772400" y="2240280"/>
            <a:ext cx="457200" cy="0"/>
          </a:xfrm>
          <a:prstGeom prst="line">
            <a:avLst/>
          </a:prstGeom>
          <a:ln w="25400">
            <a:solidFill>
              <a:srgbClr val="186F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0789920" y="2240280"/>
            <a:ext cx="182880" cy="0"/>
          </a:xfrm>
          <a:prstGeom prst="line">
            <a:avLst/>
          </a:prstGeom>
          <a:ln w="25400">
            <a:solidFill>
              <a:srgbClr val="186F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31520" y="3474720"/>
            <a:ext cx="109728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42044"/>
                </a:solidFill>
              </a:defRPr>
            </a:pPr>
            <a:r>
              <a:t>流程说明</a:t>
            </a:r>
          </a:p>
          <a:p>
            <a:pPr lvl="1">
              <a:defRPr sz="1600">
                <a:solidFill>
                  <a:srgbClr val="1E1E1E"/>
                </a:solidFill>
              </a:defRPr>
            </a:pPr>
            <a:r>
              <a:t>Orchestrator 根据上下文动态派发阶段任务</a:t>
            </a:r>
          </a:p>
          <a:p>
            <a:pPr lvl="1">
              <a:defRPr sz="1600">
                <a:solidFill>
                  <a:srgbClr val="1E1E1E"/>
                </a:solidFill>
              </a:defRPr>
            </a:pPr>
            <a:r>
              <a:t>每阶段可迭代多轮，直到达到置信度</a:t>
            </a:r>
          </a:p>
          <a:p>
            <a:pPr lvl="1">
              <a:defRPr sz="1600">
                <a:solidFill>
                  <a:srgbClr val="1E1E1E"/>
                </a:solidFill>
              </a:defRPr>
            </a:pPr>
            <a:r>
              <a:t>Verification 阶段可使用沙箱验证 PoC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142044"/>
                </a:solidFill>
              </a:defRPr>
            </a:pPr>
            <a:r>
              <a:t>Recon 阶段细节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42044"/>
                </a:solidFill>
              </a:defRPr>
            </a:pPr>
            <a:r>
              <a:t>输出内容</a:t>
            </a:r>
          </a:p>
          <a:p>
            <a:pPr lvl="1">
              <a:defRPr sz="2000">
                <a:solidFill>
                  <a:srgbClr val="1E1E1E"/>
                </a:solidFill>
              </a:defRPr>
            </a:pPr>
            <a:r>
              <a:t>项目结构、语言与框架识别</a:t>
            </a:r>
          </a:p>
          <a:p>
            <a:pPr lvl="1">
              <a:defRPr sz="2000">
                <a:solidFill>
                  <a:srgbClr val="1E1E1E"/>
                </a:solidFill>
              </a:defRPr>
            </a:pPr>
            <a:r>
              <a:t>入口点与高风险区域定位</a:t>
            </a:r>
          </a:p>
          <a:p>
            <a:pPr lvl="1">
              <a:defRPr sz="2000">
                <a:solidFill>
                  <a:srgbClr val="1E1E1E"/>
                </a:solidFill>
              </a:defRPr>
            </a:pPr>
            <a:r>
              <a:t>初步风险提示，为 Analysis 提供优先级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142044"/>
                </a:solidFill>
              </a:defRPr>
            </a:pPr>
            <a:r>
              <a:t>Analysis 阶段细节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42044"/>
                </a:solidFill>
              </a:defRPr>
            </a:pPr>
            <a:r>
              <a:t>常用手段</a:t>
            </a:r>
          </a:p>
          <a:p>
            <a:pPr lvl="1">
              <a:defRPr sz="1800">
                <a:solidFill>
                  <a:srgbClr val="1E1E1E"/>
                </a:solidFill>
              </a:defRPr>
            </a:pPr>
            <a:r>
              <a:t>SmartScan：优先批量扫描高风险文件</a:t>
            </a:r>
          </a:p>
          <a:p>
            <a:pPr lvl="1">
              <a:defRPr sz="1800">
                <a:solidFill>
                  <a:srgbClr val="1E1E1E"/>
                </a:solidFill>
              </a:defRPr>
            </a:pPr>
            <a:r>
              <a:t>Pattern Match：危险模式识别</a:t>
            </a:r>
          </a:p>
          <a:p>
            <a:pPr lvl="1">
              <a:defRPr sz="1800">
                <a:solidFill>
                  <a:srgbClr val="1E1E1E"/>
                </a:solidFill>
              </a:defRPr>
            </a:pPr>
            <a:r>
              <a:t>DataFlow Analysis：污点追踪</a:t>
            </a:r>
          </a:p>
          <a:p>
            <a:pPr lvl="1">
              <a:defRPr sz="1800">
                <a:solidFill>
                  <a:srgbClr val="1E1E1E"/>
                </a:solidFill>
              </a:defRPr>
            </a:pPr>
            <a:r>
              <a:t>外部工具：Semgrep / Bandit / Gitleaks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142044"/>
                </a:solidFill>
              </a:defRPr>
            </a:pPr>
            <a:r>
              <a:t>Verification 阶段细节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42044"/>
                </a:solidFill>
              </a:defRPr>
            </a:pPr>
            <a:r>
              <a:t>验证目标</a:t>
            </a:r>
          </a:p>
          <a:p>
            <a:pPr lvl="1">
              <a:defRPr sz="2000">
                <a:solidFill>
                  <a:srgbClr val="1E1E1E"/>
                </a:solidFill>
              </a:defRPr>
            </a:pPr>
            <a:r>
              <a:t>确认漏洞是否真实可利用</a:t>
            </a:r>
          </a:p>
          <a:p>
            <a:pPr lvl="1">
              <a:defRPr sz="2000">
                <a:solidFill>
                  <a:srgbClr val="1E1E1E"/>
                </a:solidFill>
              </a:defRPr>
            </a:pPr>
            <a:r>
              <a:t>生成 PoC / Payload / 复现步骤</a:t>
            </a:r>
          </a:p>
          <a:p>
            <a:pPr lvl="1">
              <a:defRPr sz="2000">
                <a:solidFill>
                  <a:srgbClr val="1E1E1E"/>
                </a:solidFill>
              </a:defRPr>
            </a:pPr>
            <a:r>
              <a:t>更新漏洞可信度与风险等级</a:t>
            </a:r>
          </a:p>
          <a:p>
            <a:pPr lvl="1">
              <a:defRPr sz="2000">
                <a:solidFill>
                  <a:srgbClr val="1E1E1E"/>
                </a:solidFill>
              </a:defRPr>
            </a:pPr>
            <a:r>
              <a:t>在 Docker 沙箱中执行以隔离风险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142044"/>
                </a:solidFill>
              </a:defRPr>
            </a:pPr>
            <a:r>
              <a:t>工具生态与降级策略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42044"/>
                </a:solidFill>
              </a:defRPr>
            </a:pPr>
            <a:r>
              <a:t>工具矩阵</a:t>
            </a:r>
          </a:p>
          <a:p>
            <a:pPr lvl="1">
              <a:defRPr sz="2000">
                <a:solidFill>
                  <a:srgbClr val="1E1E1E"/>
                </a:solidFill>
              </a:defRPr>
            </a:pPr>
            <a:r>
              <a:t>内部：SmartScan / PatternMatch / DataFlow</a:t>
            </a:r>
          </a:p>
          <a:p>
            <a:pPr lvl="1">
              <a:defRPr sz="2000">
                <a:solidFill>
                  <a:srgbClr val="1E1E1E"/>
                </a:solidFill>
              </a:defRPr>
            </a:pPr>
            <a:r>
              <a:t>外部：Semgrep / Bandit / Gitleaks</a:t>
            </a:r>
          </a:p>
          <a:p>
            <a:pPr lvl="1">
              <a:defRPr sz="2000">
                <a:solidFill>
                  <a:srgbClr val="1E1E1E"/>
                </a:solidFill>
              </a:defRPr>
            </a:pPr>
            <a:r>
              <a:t>失败降级：外部工具失败 → 内置工具兜底</a:t>
            </a:r>
          </a:p>
          <a:p>
            <a:pPr lvl="1">
              <a:defRPr sz="2000">
                <a:solidFill>
                  <a:srgbClr val="1E1E1E"/>
                </a:solidFill>
              </a:defRPr>
            </a:pPr>
            <a:r>
              <a:t>速率限制 + 超时控制 + 重试机制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142044"/>
                </a:solidFill>
              </a:defRPr>
            </a:pPr>
            <a:r>
              <a:t>事件流与可观测性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42044"/>
                </a:solidFill>
              </a:defRPr>
            </a:pPr>
            <a:r>
              <a:t>SSE 事件类型</a:t>
            </a:r>
          </a:p>
          <a:p>
            <a:pPr lvl="1">
              <a:defRPr sz="2000">
                <a:solidFill>
                  <a:srgbClr val="1E1E1E"/>
                </a:solidFill>
              </a:defRPr>
            </a:pPr>
            <a:r>
              <a:t>thinking_start / thinking_token / thinking_end</a:t>
            </a:r>
          </a:p>
          <a:p>
            <a:pPr lvl="1">
              <a:defRPr sz="2000">
                <a:solidFill>
                  <a:srgbClr val="1E1E1E"/>
                </a:solidFill>
              </a:defRPr>
            </a:pPr>
            <a:r>
              <a:t>tool_call / tool_result / dispatch</a:t>
            </a:r>
          </a:p>
          <a:p>
            <a:pPr lvl="1">
              <a:defRPr sz="2000">
                <a:solidFill>
                  <a:srgbClr val="1E1E1E"/>
                </a:solidFill>
              </a:defRPr>
            </a:pPr>
            <a:r>
              <a:t>finding / error / warning / info</a:t>
            </a:r>
          </a:p>
          <a:p>
            <a:pPr lvl="1">
              <a:defRPr sz="2000">
                <a:solidFill>
                  <a:srgbClr val="1E1E1E"/>
                </a:solidFill>
              </a:defRPr>
            </a:pPr>
            <a:r>
              <a:t>前端实时日志、Agent 树、统计图更新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142044"/>
                </a:solidFill>
              </a:defRPr>
            </a:pPr>
            <a:r>
              <a:t>数据模型与结果输出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42044"/>
                </a:solidFill>
              </a:defRPr>
            </a:pPr>
            <a:r>
              <a:t>核心产物</a:t>
            </a:r>
          </a:p>
          <a:p>
            <a:pPr lvl="1">
              <a:defRPr sz="2000">
                <a:solidFill>
                  <a:srgbClr val="1E1E1E"/>
                </a:solidFill>
              </a:defRPr>
            </a:pPr>
            <a:r>
              <a:t>任务（AgentTask）状态与执行记录</a:t>
            </a:r>
          </a:p>
          <a:p>
            <a:pPr lvl="1">
              <a:defRPr sz="2000">
                <a:solidFill>
                  <a:srgbClr val="1E1E1E"/>
                </a:solidFill>
              </a:defRPr>
            </a:pPr>
            <a:r>
              <a:t>发现（Finding）结构化字段：类型、位置、证据、PoC</a:t>
            </a:r>
          </a:p>
          <a:p>
            <a:pPr lvl="1">
              <a:defRPr sz="2000">
                <a:solidFill>
                  <a:srgbClr val="1E1E1E"/>
                </a:solidFill>
              </a:defRPr>
            </a:pPr>
            <a:r>
              <a:t>审计报告：PDF / Markdown / JSON 导出</a:t>
            </a:r>
          </a:p>
          <a:p>
            <a:pPr lvl="1">
              <a:defRPr sz="2000">
                <a:solidFill>
                  <a:srgbClr val="1E1E1E"/>
                </a:solidFill>
              </a:defRPr>
            </a:pPr>
            <a:r>
              <a:t>指标：风险评分、置信度、覆盖率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142044"/>
                </a:solidFill>
              </a:defRPr>
            </a:pPr>
            <a:r>
              <a:t>安全与稳定性设计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42044"/>
                </a:solidFill>
              </a:defRPr>
            </a:pPr>
            <a:r>
              <a:t>可靠性机制</a:t>
            </a:r>
          </a:p>
          <a:p>
            <a:pPr lvl="1">
              <a:defRPr sz="2000">
                <a:solidFill>
                  <a:srgbClr val="1E1E1E"/>
                </a:solidFill>
              </a:defRPr>
            </a:pPr>
            <a:r>
              <a:t>输入校验（路径、扩展名、大小）</a:t>
            </a:r>
          </a:p>
          <a:p>
            <a:pPr lvl="1">
              <a:defRPr sz="2000">
                <a:solidFill>
                  <a:srgbClr val="1E1E1E"/>
                </a:solidFill>
              </a:defRPr>
            </a:pPr>
            <a:r>
              <a:t>熔断器 + 指数退避重试</a:t>
            </a:r>
          </a:p>
          <a:p>
            <a:pPr lvl="1">
              <a:defRPr sz="2000">
                <a:solidFill>
                  <a:srgbClr val="1E1E1E"/>
                </a:solidFill>
              </a:defRPr>
            </a:pPr>
            <a:r>
              <a:t>速率限制，防止资源耗尽</a:t>
            </a:r>
          </a:p>
          <a:p>
            <a:pPr lvl="1">
              <a:defRPr sz="2000">
                <a:solidFill>
                  <a:srgbClr val="1E1E1E"/>
                </a:solidFill>
              </a:defRPr>
            </a:pPr>
            <a:r>
              <a:t>上下文压缩，避免 Token 超限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142044"/>
                </a:solidFill>
              </a:defRPr>
            </a:pPr>
            <a:r>
              <a:t>扩展能力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42044"/>
                </a:solidFill>
              </a:defRPr>
            </a:pPr>
            <a:r>
              <a:t>可扩展点</a:t>
            </a:r>
          </a:p>
          <a:p>
            <a:pPr lvl="1">
              <a:defRPr sz="2000">
                <a:solidFill>
                  <a:srgbClr val="1E1E1E"/>
                </a:solidFill>
              </a:defRPr>
            </a:pPr>
            <a:r>
              <a:t>新增 Agent（Custom Agent）</a:t>
            </a:r>
          </a:p>
          <a:p>
            <a:pPr lvl="1">
              <a:defRPr sz="2000">
                <a:solidFill>
                  <a:srgbClr val="1E1E1E"/>
                </a:solidFill>
              </a:defRPr>
            </a:pPr>
            <a:r>
              <a:t>新增工具（Tool Registry）</a:t>
            </a:r>
          </a:p>
          <a:p>
            <a:pPr lvl="1">
              <a:defRPr sz="2000">
                <a:solidFill>
                  <a:srgbClr val="1E1E1E"/>
                </a:solidFill>
              </a:defRPr>
            </a:pPr>
            <a:r>
              <a:t>新增漏洞知识库与提示词模板</a:t>
            </a:r>
          </a:p>
          <a:p>
            <a:pPr lvl="1">
              <a:defRPr sz="2000">
                <a:solidFill>
                  <a:srgbClr val="1E1E1E"/>
                </a:solidFill>
              </a:defRPr>
            </a:pPr>
            <a:r>
              <a:t>支持多模型/多平台 LLM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142044"/>
                </a:solidFill>
              </a:defRPr>
            </a:pPr>
            <a:r>
              <a:t>部署形态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42044"/>
                </a:solidFill>
              </a:defRPr>
            </a:pPr>
            <a:r>
              <a:t>常见部署方式</a:t>
            </a:r>
          </a:p>
          <a:p>
            <a:pPr lvl="1">
              <a:defRPr sz="2000">
                <a:solidFill>
                  <a:srgbClr val="1E1E1E"/>
                </a:solidFill>
              </a:defRPr>
            </a:pPr>
            <a:r>
              <a:t>Docker 一键部署（生产推荐）</a:t>
            </a:r>
          </a:p>
          <a:p>
            <a:pPr lvl="1">
              <a:defRPr sz="2000">
                <a:solidFill>
                  <a:srgbClr val="1E1E1E"/>
                </a:solidFill>
              </a:defRPr>
            </a:pPr>
            <a:r>
              <a:t>本地开发模式（FastAPI + React）</a:t>
            </a:r>
          </a:p>
          <a:p>
            <a:pPr lvl="1">
              <a:defRPr sz="2000">
                <a:solidFill>
                  <a:srgbClr val="1E1E1E"/>
                </a:solidFill>
              </a:defRPr>
            </a:pPr>
            <a:r>
              <a:t>本地 LLM / 私有化部署支持</a:t>
            </a:r>
          </a:p>
          <a:p>
            <a:pPr lvl="1">
              <a:defRPr sz="2000">
                <a:solidFill>
                  <a:srgbClr val="1E1E1E"/>
                </a:solidFill>
              </a:defRPr>
            </a:pPr>
            <a:r>
              <a:t>沙箱镜像独立升级与隔离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142044"/>
                </a:solidFill>
              </a:defRPr>
            </a:pPr>
            <a:r>
              <a:t>案例演示：SQL 注入审计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42044"/>
                </a:solidFill>
              </a:defRPr>
            </a:pPr>
            <a:r>
              <a:t>示例步骤</a:t>
            </a:r>
          </a:p>
          <a:p>
            <a:pPr lvl="1">
              <a:defRPr sz="2000">
                <a:solidFill>
                  <a:srgbClr val="1E1E1E"/>
                </a:solidFill>
              </a:defRPr>
            </a:pPr>
            <a:r>
              <a:t>Recon 识别 Django 项目与入口点</a:t>
            </a:r>
          </a:p>
          <a:p>
            <a:pPr lvl="1">
              <a:defRPr sz="2000">
                <a:solidFill>
                  <a:srgbClr val="1E1E1E"/>
                </a:solidFill>
              </a:defRPr>
            </a:pPr>
            <a:r>
              <a:t>Analysis 在 query 拼接处发现可疑点</a:t>
            </a:r>
          </a:p>
          <a:p>
            <a:pPr lvl="1">
              <a:defRPr sz="2000">
                <a:solidFill>
                  <a:srgbClr val="1E1E1E"/>
                </a:solidFill>
              </a:defRPr>
            </a:pPr>
            <a:r>
              <a:t>Verification 生成 PoC 并在沙箱验证</a:t>
            </a:r>
          </a:p>
          <a:p>
            <a:pPr lvl="1">
              <a:defRPr sz="2000">
                <a:solidFill>
                  <a:srgbClr val="1E1E1E"/>
                </a:solidFill>
              </a:defRPr>
            </a:pPr>
            <a:r>
              <a:t>报告输出：影响描述 + 修复建议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142044"/>
                </a:solidFill>
              </a:defRPr>
            </a:pPr>
            <a:r>
              <a:t>输出质量与指标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42044"/>
                </a:solidFill>
              </a:defRPr>
            </a:pPr>
            <a:r>
              <a:t>衡量维度</a:t>
            </a:r>
          </a:p>
          <a:p>
            <a:pPr lvl="1">
              <a:defRPr sz="2000">
                <a:solidFill>
                  <a:srgbClr val="1E1E1E"/>
                </a:solidFill>
              </a:defRPr>
            </a:pPr>
            <a:r>
              <a:t>有效漏洞率 / 误报率</a:t>
            </a:r>
          </a:p>
          <a:p>
            <a:pPr lvl="1">
              <a:defRPr sz="2000">
                <a:solidFill>
                  <a:srgbClr val="1E1E1E"/>
                </a:solidFill>
              </a:defRPr>
            </a:pPr>
            <a:r>
              <a:t>验证通过率 / PoC 生成成功率</a:t>
            </a:r>
          </a:p>
          <a:p>
            <a:pPr lvl="1">
              <a:defRPr sz="2000">
                <a:solidFill>
                  <a:srgbClr val="1E1E1E"/>
                </a:solidFill>
              </a:defRPr>
            </a:pPr>
            <a:r>
              <a:t>扫描覆盖率 / 处理时长</a:t>
            </a:r>
          </a:p>
          <a:p>
            <a:pPr lvl="1">
              <a:defRPr sz="2000">
                <a:solidFill>
                  <a:srgbClr val="1E1E1E"/>
                </a:solidFill>
              </a:defRPr>
            </a:pPr>
            <a:r>
              <a:t>风险分布与趋势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142044"/>
                </a:solidFill>
              </a:defRPr>
            </a:pPr>
            <a:r>
              <a:t>总结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42044"/>
                </a:solidFill>
              </a:defRPr>
            </a:pPr>
            <a:r>
              <a:t>关键结论</a:t>
            </a:r>
          </a:p>
          <a:p>
            <a:pPr lvl="1">
              <a:defRPr sz="2000">
                <a:solidFill>
                  <a:srgbClr val="1E1E1E"/>
                </a:solidFill>
              </a:defRPr>
            </a:pPr>
            <a:r>
              <a:t>DeepAudit = LLM 决策 + 多 Agent 协作 + 工具链 + 沙箱验证</a:t>
            </a:r>
          </a:p>
          <a:p>
            <a:pPr lvl="1">
              <a:defRPr sz="2000">
                <a:solidFill>
                  <a:srgbClr val="1E1E1E"/>
                </a:solidFill>
              </a:defRPr>
            </a:pPr>
            <a:r>
              <a:t>流程闭环，能解释、能验证、能输出报告</a:t>
            </a:r>
          </a:p>
          <a:p>
            <a:pPr lvl="1">
              <a:defRPr sz="2000">
                <a:solidFill>
                  <a:srgbClr val="1E1E1E"/>
                </a:solidFill>
              </a:defRPr>
            </a:pPr>
            <a:r>
              <a:t>架构可扩展，适配多语言、多模型与企业私有化需求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142044"/>
                </a:solidFill>
              </a:defRPr>
            </a:pPr>
            <a:r>
              <a:t>Q&amp;A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42044"/>
                </a:solidFill>
              </a:defRPr>
            </a:pPr>
            <a:r>
              <a:t>感谢参与</a:t>
            </a:r>
          </a:p>
          <a:p>
            <a:pPr lvl="1">
              <a:defRPr sz="2400">
                <a:solidFill>
                  <a:srgbClr val="1E1E1E"/>
                </a:solidFill>
              </a:defRPr>
            </a:pPr>
            <a:r>
              <a:t>欢迎提问</a:t>
            </a:r>
          </a:p>
          <a:p>
            <a:pPr lvl="1">
              <a:defRPr sz="2400">
                <a:solidFill>
                  <a:srgbClr val="1E1E1E"/>
                </a:solidFill>
              </a:defRPr>
            </a:pPr>
            <a:r>
              <a:t>可根据需求提供定制演示与落地建议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